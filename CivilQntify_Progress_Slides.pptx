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CivilQntify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FDBFE"/>
                </a:solidFill>
              </a:defRPr>
            </a:pPr>
            <a:r>
              <a:t>Automated Concrete Mix Design &amp; Material Quantification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3C5FD"/>
                </a:solidFill>
              </a:defRPr>
            </a:pPr>
            <a:r>
              <a:t>[Your Name]  |  [Course/Program]  |  [Supervisor Name]</a:t>
            </a:r>
          </a:p>
          <a:p>
            <a:pPr algn="ctr">
              <a:spcBef>
                <a:spcPts val="800"/>
              </a:spcBef>
              <a:defRPr sz="1400">
                <a:solidFill>
                  <a:srgbClr val="93C5FD"/>
                </a:solidFill>
              </a:defRPr>
            </a:pPr>
            <a:r>
              <a:t>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40AF"/>
                </a:solidFill>
              </a:defRPr>
            </a:pPr>
            <a:r>
              <a:t>Why CivilQntify?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Manual concrete mix design is time-consuming and error-prone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Engineers must juggle multiple code tables (ACI 211.1, IS 10262)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No integrated tool for mix design → quantification → cost estimation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Material wastage and cost overruns due to inaccurate quantity takeoffs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Lack of standardized, auditable calculation trails for mix approval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4114800"/>
            <a:ext cx="4572000" cy="2011680"/>
          </a:xfrm>
          <a:prstGeom prst="roundRect">
            <a:avLst/>
          </a:prstGeom>
          <a:solidFill>
            <a:srgbClr val="E5E7EB"/>
          </a:solidFill>
          <a:ln>
            <a:solidFill>
              <a:srgbClr val="9CA3A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  <a:defRPr sz="1200">
                <a:solidFill>
                  <a:srgbClr val="6B7280"/>
                </a:solidFill>
              </a:defRPr>
            </a:pPr>
            <a:r>
              <a:t>[Flowchart: Current Manual Workflow]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59669"/>
                </a:solidFill>
              </a:defRPr>
            </a:pPr>
            <a:r>
              <a:t>What we aim to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Automate concrete mix proportioning per ACI 211.1 and IS 10262:2019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Provide material quantification (volume-based &amp; element-based)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Integrate cost estimation with local pricing (GH Cedis)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Generate professional PDF/CSV/JSON reports for mix documentation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Support SCM replacements, admixtures, and exposure classes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Deliver a clean, tabbed desktop GUI for civil engineers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828800"/>
            <a:ext cx="4114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/>
          <a:lstStyle/>
          <a:p>
            <a:pPr algn="ctr">
              <a:spcAft>
                <a:spcPts val="800"/>
              </a:spcAft>
              <a:defRPr sz="1400" b="1">
                <a:solidFill>
                  <a:srgbClr val="059669"/>
                </a:solidFill>
              </a:defRPr>
            </a:pPr>
            <a:r>
              <a:t>Scope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Desktop application (PyQt6)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Two design codes (ACI + IS)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Offline — no server required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C3AED"/>
                </a:solidFill>
              </a:defRPr>
            </a:pPr>
            <a:r>
              <a:t>High-level component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4572000"/>
          </a:xfrm>
          <a:prstGeom prst="roundRect">
            <a:avLst/>
          </a:prstGeom>
          <a:solidFill>
            <a:srgbClr val="E5E7EB"/>
          </a:solidFill>
          <a:ln>
            <a:solidFill>
              <a:srgbClr val="9CA3A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  <a:defRPr sz="1200">
                <a:solidFill>
                  <a:srgbClr val="6B7280"/>
                </a:solidFill>
              </a:defRPr>
            </a:pPr>
            <a:r>
              <a:t>[INSERT: architecture_diagram.png — use the generated diagram]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Technical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004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/>
          <a:lstStyle/>
          <a:p>
            <a:pPr algn="ctr">
              <a:spcAft>
                <a:spcPts val="800"/>
              </a:spcAft>
              <a:defRPr sz="1400" b="1">
                <a:solidFill>
                  <a:srgbClr val="1E40AF"/>
                </a:solidFill>
              </a:defRPr>
            </a:pPr>
            <a:r>
              <a:t>Frontend (GUI)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PyQt6 desktop framework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QTabWidget navigation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QSS custom design system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Inter + JetBrains Mono fonts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QThread background workers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828800"/>
            <a:ext cx="32004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/>
          <a:lstStyle/>
          <a:p>
            <a:pPr algn="ctr">
              <a:spcAft>
                <a:spcPts val="800"/>
              </a:spcAft>
              <a:defRPr sz="1400" b="1">
                <a:solidFill>
                  <a:srgbClr val="059669"/>
                </a:solidFill>
              </a:defRPr>
            </a:pPr>
            <a:r>
              <a:t>Backend (Calculation)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Pure Python calculation engine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Frozen dataclasses for immutability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Strategy pattern for design codes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Absolute volume method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Qt signals/slots for data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828800"/>
            <a:ext cx="32004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/>
          <a:lstStyle/>
          <a:p>
            <a:pPr algn="ctr">
              <a:spcAft>
                <a:spcPts val="800"/>
              </a:spcAft>
              <a:defRPr sz="1400" b="1">
                <a:solidFill>
                  <a:srgbClr val="7C3AED"/>
                </a:solidFill>
              </a:defRPr>
            </a:pPr>
            <a:r>
              <a:t>Export &amp; Reporting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PDF generation (fpdf2)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CSV export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JSON export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HTML report preview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Text report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Concrete Mix Design —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40AF"/>
                </a:solidFill>
              </a:defRPr>
            </a:pPr>
            <a:r>
              <a:t>3-step input form with code-aware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4389120"/>
          </a:xfrm>
          <a:prstGeom prst="roundRect">
            <a:avLst/>
          </a:prstGeom>
          <a:solidFill>
            <a:srgbClr val="E5E7EB"/>
          </a:solidFill>
          <a:ln>
            <a:solidFill>
              <a:srgbClr val="9CA3A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  <a:defRPr sz="1200">
                <a:solidFill>
                  <a:srgbClr val="6B7280"/>
                </a:solidFill>
              </a:defRPr>
            </a:pPr>
            <a:r>
              <a:t>[INSERT: Screenshot of Concrete Mix Design tab — step 1]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029200" cy="4389120"/>
          </a:xfrm>
          <a:prstGeom prst="roundRect">
            <a:avLst/>
          </a:prstGeom>
          <a:solidFill>
            <a:srgbClr val="E5E7EB"/>
          </a:solidFill>
          <a:ln>
            <a:solidFill>
              <a:srgbClr val="9CA3A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  <a:defRPr sz="1200">
                <a:solidFill>
                  <a:srgbClr val="6B7280"/>
                </a:solidFill>
              </a:defRPr>
            </a:pPr>
            <a:r>
              <a:t>[INSERT: Screenshot of Concrete Mix Design tab — step 2 or results]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Calculation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59669"/>
                </a:solidFill>
              </a:defRPr>
            </a:pPr>
            <a:r>
              <a:t>Core proportioning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Target mean strength: f'ck = fck + 1.65 × S (IS) or f'cr = f'c + 1.34s (ACI)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Water-cement ratio from strength tables with interpolation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Water content selection based on slump, NMSA, and aggregate shape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Absolute volume method for aggregate proportions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Moisture correction for field conditions (absorption + free moisture)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Cementitious efficiency factor for SCMs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Exposure class limits (IS 456 / ACI 318)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4114800"/>
            <a:ext cx="4114800" cy="2286000"/>
          </a:xfrm>
          <a:prstGeom prst="roundRect">
            <a:avLst/>
          </a:prstGeom>
          <a:solidFill>
            <a:srgbClr val="E5E7EB"/>
          </a:solidFill>
          <a:ln>
            <a:solidFill>
              <a:srgbClr val="9CA3A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  <a:defRPr sz="1200">
                <a:solidFill>
                  <a:srgbClr val="6B7280"/>
                </a:solidFill>
              </a:defRPr>
            </a:pPr>
            <a:r>
              <a:t>[INSERT: Calculation steps tree view from result panel]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Design Standards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C3AED"/>
                </a:solidFill>
              </a:defRPr>
            </a:pPr>
            <a:r>
              <a:t>Strategy pattern for multi-code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/>
          <a:lstStyle/>
          <a:p>
            <a:pPr algn="ctr">
              <a:spcAft>
                <a:spcPts val="800"/>
              </a:spcAft>
              <a:defRPr sz="1400" b="1">
                <a:solidFill>
                  <a:srgbClr val="1E40AF"/>
                </a:solidFill>
              </a:defRPr>
            </a:pPr>
            <a:r>
              <a:t>ACI 211.1-22 (American)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Table 5.3.3 — Water content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Table 6.3.3 — w/c ratio vs strength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Table 5.3.6 — Coarse aggregate volume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Overdesign for no production data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Sulfate exposure limits (S0–S3)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Air-entrained concrete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50292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/>
          <a:lstStyle/>
          <a:p>
            <a:pPr algn="ctr">
              <a:spcAft>
                <a:spcPts val="800"/>
              </a:spcAft>
              <a:defRPr sz="1400" b="1">
                <a:solidFill>
                  <a:srgbClr val="059669"/>
                </a:solidFill>
              </a:defRPr>
            </a:pPr>
            <a:r>
              <a:t>IS 10262:2019 (Indian)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Table 7 — Water content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Table 8 — w/c ratio vs strength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Table 10 — CA fraction per zone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Grading zones (I–IV)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Exposure classes ( Mild to Severe )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SCM replacement limits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Material Quantification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40AF"/>
                </a:solidFill>
              </a:defRPr>
            </a:pPr>
            <a:r>
              <a:t>From mix proportions to material bills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Transfer mix design data via MixDesignTransferData (frozen dataclass)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Volume-based: enter total concrete volume + wastage percentage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Element-based: define structural elements (footing, column, beam, slab, wall)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Automatic cement bag calculation (bag weight configurable)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Material bill with cement bags, aggregate tonnes, water litres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Override any material field without affecting other values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4114800"/>
            <a:ext cx="5029200" cy="2286000"/>
          </a:xfrm>
          <a:prstGeom prst="roundRect">
            <a:avLst/>
          </a:prstGeom>
          <a:solidFill>
            <a:srgbClr val="E5E7EB"/>
          </a:solidFill>
          <a:ln>
            <a:solidFill>
              <a:srgbClr val="9CA3A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  <a:defRPr sz="1200">
                <a:solidFill>
                  <a:srgbClr val="6B7280"/>
                </a:solidFill>
              </a:defRPr>
            </a:pPr>
            <a:r>
              <a:t>[INSERT: Screenshot of Material Quantification tab]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Cost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40AF"/>
                </a:solidFill>
              </a:defRPr>
            </a:pPr>
            <a:r>
              <a:t>Project costing with GH Cedis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Material prices input (per bag, per tonne, per litre)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Additional costs: labour, transport, overhead, profit, contingency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Automatic cost breakdown from material bill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Subtotal, contingency, and grand total calculation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Project info: name, client, date, engineer, notes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Tab now visible in the frontend (recently re-enabled)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4114800"/>
            <a:ext cx="5029200" cy="2286000"/>
          </a:xfrm>
          <a:prstGeom prst="roundRect">
            <a:avLst/>
          </a:prstGeom>
          <a:solidFill>
            <a:srgbClr val="E5E7EB"/>
          </a:solidFill>
          <a:ln>
            <a:solidFill>
              <a:srgbClr val="9CA3A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  <a:defRPr sz="1200">
                <a:solidFill>
                  <a:srgbClr val="6B7280"/>
                </a:solidFill>
              </a:defRPr>
            </a:pPr>
            <a:r>
              <a:t>[INSERT: Screenshot of Cost Estimation tab with results]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Export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59669"/>
                </a:solidFill>
              </a:defRPr>
            </a:pPr>
            <a:r>
              <a:t>Professional documentation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004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/>
          <a:lstStyle/>
          <a:p>
            <a:pPr algn="ctr">
              <a:spcAft>
                <a:spcPts val="800"/>
              </a:spcAft>
              <a:defRPr sz="1400" b="1">
                <a:solidFill>
                  <a:srgbClr val="1E40AF"/>
                </a:solidFill>
              </a:defRPr>
            </a:pPr>
            <a:r>
              <a:t>PDF Report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Full mix design report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Calculation steps included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Material properties table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Professional formatting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fpdf2 library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828800"/>
            <a:ext cx="32004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/>
          <a:lstStyle/>
          <a:p>
            <a:pPr algn="ctr">
              <a:spcAft>
                <a:spcPts val="800"/>
              </a:spcAft>
              <a:defRPr sz="1400" b="1">
                <a:solidFill>
                  <a:srgbClr val="059669"/>
                </a:solidFill>
              </a:defRPr>
            </a:pPr>
            <a:r>
              <a:t>Data Export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CSV for spreadsheet analysis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JSON for API integration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Text report for quick review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All export formats available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One-click download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828800"/>
            <a:ext cx="32004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/>
          <a:lstStyle/>
          <a:p>
            <a:pPr algn="ctr">
              <a:spcAft>
                <a:spcPts val="800"/>
              </a:spcAft>
              <a:defRPr sz="1400" b="1">
                <a:solidFill>
                  <a:srgbClr val="7C3AED"/>
                </a:solidFill>
              </a:defRPr>
            </a:pPr>
            <a:r>
              <a:t>Report Preview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HTML preview before export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QTextBrowser (no WebEngine)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Print-ready formatting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Date/time stamped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Project metadata included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Testing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40AF"/>
                </a:solidFill>
              </a:defRPr>
            </a:pPr>
            <a:r>
              <a:t>149 tests passing — ACI &amp; IS pipelines verified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/>
          <a:lstStyle/>
          <a:p>
            <a:pPr algn="ctr">
              <a:spcAft>
                <a:spcPts val="800"/>
              </a:spcAft>
              <a:defRPr sz="1400" b="1">
                <a:solidFill>
                  <a:srgbClr val="1E40AF"/>
                </a:solidFill>
              </a:defRPr>
            </a:pPr>
            <a:r>
              <a:t>Test Coverage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149 unit tests across 3 test files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ACI 211.1: water content, w/c ratio, air content, sulfate limits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IS 10262: target strength, water content, CA fraction, grading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Material quantification: volume, elements, overrides,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029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/>
          <a:lstStyle/>
          <a:p>
            <a:pPr algn="ctr">
              <a:spcAft>
                <a:spcPts val="800"/>
              </a:spcAft>
              <a:defRPr sz="1400" b="1">
                <a:solidFill>
                  <a:srgbClr val="059669"/>
                </a:solidFill>
              </a:defRPr>
            </a:pPr>
            <a:r>
              <a:t>Integration Tests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Full ACI pipeline: input → result → export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Full IS pipeline: input → result → export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End-to-end quantification flow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Error handling and validation edge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4297680"/>
          </a:xfrm>
          <a:prstGeom prst="roundRect">
            <a:avLst/>
          </a:prstGeom>
          <a:solidFill>
            <a:srgbClr val="E5E7EB"/>
          </a:solidFill>
          <a:ln>
            <a:solidFill>
              <a:srgbClr val="9CA3A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  <a:defRPr sz="1200">
                <a:solidFill>
                  <a:srgbClr val="6B7280"/>
                </a:solidFill>
              </a:defRPr>
            </a:pPr>
            <a:r>
              <a:t>[INSERT: Terminal screenshot showing pytest output — 149 passed]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Challenges &amp; 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C3AED"/>
                </a:solidFill>
              </a:defRPr>
            </a:pPr>
            <a:r>
              <a:t>Technical decisions and tradeoffs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Frozen dataclasses → immutability prevents silent calculation corruption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Strategy pattern → clean separation between ACI and IS code logic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QThread workers → non-blocking UI during heavy calculations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Qt signals/slots → type-safe inter-tab data transfer without tight coupling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Absolute volume method → ensuring unit consistency across codes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Moisture correction → bridging lab conditions to field conditions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PDF generation → fpdf2 chosen over ReportLab for simplicity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Next Steps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40AF"/>
                </a:solidFill>
              </a:defRPr>
            </a:pPr>
            <a:r>
              <a:t>Remaining work and 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/>
          <a:lstStyle/>
          <a:p>
            <a:pPr algn="ctr">
              <a:spcAft>
                <a:spcPts val="800"/>
              </a:spcAft>
              <a:defRPr sz="1400" b="1">
                <a:solidFill>
                  <a:srgbClr val="1E40AF"/>
                </a:solidFill>
              </a:defRPr>
            </a:pPr>
            <a:r>
              <a:t>Immediate (This Week)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Polish cost estimation UI and validation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Add missing field tooltips and help text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Finalize report formatting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029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/>
          <a:lstStyle/>
          <a:p>
            <a:pPr algn="ctr">
              <a:spcAft>
                <a:spcPts val="800"/>
              </a:spcAft>
              <a:defRPr sz="1400" b="1">
                <a:solidFill>
                  <a:srgbClr val="059669"/>
                </a:solidFill>
              </a:defRPr>
            </a:pPr>
            <a:r>
              <a:t>Short-term (Next 2 Weeks)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Database persistence for saved mix designs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Print-to-PDF from report preview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Unit testing for cost estimation tab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/>
          <a:lstStyle/>
          <a:p>
            <a:pPr algn="ctr">
              <a:spcAft>
                <a:spcPts val="800"/>
              </a:spcAft>
              <a:defRPr sz="1400" b="1">
                <a:solidFill>
                  <a:srgbClr val="7C3AED"/>
                </a:solidFill>
              </a:defRPr>
            </a:pPr>
            <a:r>
              <a:t>Future Enhancements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Web version (FastAPI + React)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Additional codes (BS 882, EN 206)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Trial mix comparison tool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Aggregate grading chart visualization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Cloud backup and collaboration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FDBFE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3C5FD"/>
                </a:solidFill>
              </a:defRPr>
            </a:pPr>
            <a:r>
              <a:t>[Your Name]  |  [Email]  |  [GitHub/Portfolio]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